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7" d="100"/>
          <a:sy n="17" d="100"/>
        </p:scale>
        <p:origin x="32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4E48-BA48-AB13-666A-602313302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8CA8E-1162-EA7F-B45E-D302A3321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8661A-35AF-2FB1-5A83-DA0A83096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C517B-B22A-1EA4-2388-F01E2DD9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75857-B497-29BC-F042-710F7590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9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3068-FD7D-959E-9B3C-C026D2F0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D1B5B-8C0C-7FF3-318E-BF5C7DA22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D033A-B3B2-05B3-A212-E22243C4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60D53-FEEC-CFDC-5293-26C33CCE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06114-B0C2-16DC-B3C8-710A31A2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2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C19A-164D-6F78-ED54-0F02BE0A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5451E-EEA0-4681-1B3C-7AD01F690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95FC4-FEAD-9BCA-364B-BBFAD736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2DC3E-2E87-F560-5AF5-D927F8B86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AD9CD-BE94-7365-C3C6-825C1851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8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965B-E34F-DDC0-7D93-050FAB72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6206-2480-B6C9-1DE2-536E0D3D3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9C74A-4C65-FC50-B1BC-571C8006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567B6-7068-C2EB-0D79-5A6FD9D6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4F7F3-E165-35BB-8057-FB408240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BB1ED-537A-E689-942F-C95CE18C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1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87CE-FE3C-9D0B-6FC7-8C50A85DE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DFCF-BB0C-7D17-6D14-12712D414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EF7AD-2E99-7430-18E2-F2F1F5C8E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2842B-4ED7-8698-7EEE-6BE0D7CE8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C65E2-607F-8E07-BF0F-18A51DF2A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5E29B-1260-ECC0-2A34-793187D4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ED03F-DBE7-BD06-E9C7-60DC31A0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508A3-6521-FD83-AB60-1A3FDECB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1480E-D6A9-CF0E-8FD2-3CD1219AC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489402-018F-D724-D9A1-9DD88FBB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8B807-0350-AAB3-B5B5-E954CE22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B1110-37CA-53EA-F144-84915266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9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39308-A015-1F60-7B6C-56FB7FB0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F7265-0CCA-7E8F-CAAC-1EC675E2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D9A0F-EE61-A0EC-9BE3-ECDEB6CA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E5D7-4EB7-D2F6-B31C-EE9242AF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A202-5DB9-9022-F45B-423098BD2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79792-B0FC-3A8C-1485-BF733A73A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ABB69-4935-9DD9-E818-B7B2C4329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75F8C-D106-977F-B8DE-1441448CF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CE05D-7975-1203-551F-3EB5B493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56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237A-F310-C288-F5A7-0A158465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FC987-8155-1406-3CEE-DC1C765B24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66E9C-77F8-38F8-52D0-7D3B833E2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62C57-E233-A80B-F355-16BD588D5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A934C-75E2-F258-F544-71D6CEA0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0A3E4-7D23-40B8-55C0-B0A1D287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8623-8879-9582-DDEF-2ACFF2A9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16E39-9E1D-385D-BFDF-A6561C7E7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CC83B-0307-CDFE-AD64-25A5A8F2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A3CAB-455E-A645-AD9A-1F5215D2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0FB35-AFA4-7C9E-7D70-38EA6B4D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58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3A775E-5F78-E771-0A0B-FC99D440B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90194-D073-D4DA-ABBD-A748D7E12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5F6C0-6943-B681-B560-9D4C9A31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B7112-E130-EFDA-1106-6C9C217F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56D14-D67A-699B-4D22-1387A8F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6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1B760-0FA7-6F06-D903-D3BF9427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E32A8-C69D-E55C-815D-F0B185696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A9BB-EAD6-D1D5-E84F-D83FBBF19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5AC7E-20D0-4E48-BC13-DB21CCBA95BC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C4518-50AF-AEB2-6D7D-FE7A979B3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7F65C-3AB4-5659-88D5-FE1612B44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9604D-E15F-4492-8503-0511CC41E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9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0969AF-6721-689A-1F07-8B403D8C7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069033"/>
              </p:ext>
            </p:extLst>
          </p:nvPr>
        </p:nvGraphicFramePr>
        <p:xfrm>
          <a:off x="-13500" y="618598"/>
          <a:ext cx="1179576" cy="3073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76">
                  <a:extLst>
                    <a:ext uri="{9D8B030D-6E8A-4147-A177-3AD203B41FA5}">
                      <a16:colId xmlns:a16="http://schemas.microsoft.com/office/drawing/2014/main" val="2779077959"/>
                    </a:ext>
                  </a:extLst>
                </a:gridCol>
              </a:tblGrid>
              <a:tr h="512222">
                <a:tc>
                  <a:txBody>
                    <a:bodyPr/>
                    <a:lstStyle/>
                    <a:p>
                      <a:r>
                        <a:rPr lang="en-US" sz="1000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3383"/>
                  </a:ext>
                </a:extLst>
              </a:tr>
              <a:tr h="512222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CustomerID</a:t>
                      </a:r>
                      <a:r>
                        <a:rPr lang="en-US" sz="1000" dirty="0"/>
                        <a:t>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4132"/>
                  </a:ext>
                </a:extLst>
              </a:tr>
              <a:tr h="512222">
                <a:tc>
                  <a:txBody>
                    <a:bodyPr/>
                    <a:lstStyle/>
                    <a:p>
                      <a:r>
                        <a:rPr lang="en-US" sz="1000" dirty="0"/>
                        <a:t>FirstName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25182"/>
                  </a:ext>
                </a:extLst>
              </a:tr>
              <a:tr h="512222">
                <a:tc>
                  <a:txBody>
                    <a:bodyPr/>
                    <a:lstStyle/>
                    <a:p>
                      <a:r>
                        <a:rPr lang="en-US" sz="1000" dirty="0" err="1"/>
                        <a:t>LastName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360850"/>
                  </a:ext>
                </a:extLst>
              </a:tr>
              <a:tr h="512222">
                <a:tc>
                  <a:txBody>
                    <a:bodyPr/>
                    <a:lstStyle/>
                    <a:p>
                      <a:r>
                        <a:rPr lang="en-US" sz="1000" dirty="0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167459"/>
                  </a:ext>
                </a:extLst>
              </a:tr>
              <a:tr h="512222">
                <a:tc>
                  <a:txBody>
                    <a:bodyPr/>
                    <a:lstStyle/>
                    <a:p>
                      <a:r>
                        <a:rPr lang="en-US" sz="100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10719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3348CD-01AC-F860-04FB-65A94F942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57517"/>
              </p:ext>
            </p:extLst>
          </p:nvPr>
        </p:nvGraphicFramePr>
        <p:xfrm>
          <a:off x="2130546" y="445021"/>
          <a:ext cx="1179576" cy="284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576">
                  <a:extLst>
                    <a:ext uri="{9D8B030D-6E8A-4147-A177-3AD203B41FA5}">
                      <a16:colId xmlns:a16="http://schemas.microsoft.com/office/drawing/2014/main" val="2779077959"/>
                    </a:ext>
                  </a:extLst>
                </a:gridCol>
              </a:tblGrid>
              <a:tr h="474470">
                <a:tc>
                  <a:txBody>
                    <a:bodyPr/>
                    <a:lstStyle/>
                    <a:p>
                      <a:r>
                        <a:rPr lang="en-US" sz="1000" dirty="0"/>
                        <a:t>Bid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3383"/>
                  </a:ext>
                </a:extLst>
              </a:tr>
              <a:tr h="474470">
                <a:tc>
                  <a:txBody>
                    <a:bodyPr/>
                    <a:lstStyle/>
                    <a:p>
                      <a:r>
                        <a:rPr lang="en-US" sz="1000" dirty="0" err="1"/>
                        <a:t>BidID</a:t>
                      </a:r>
                      <a:r>
                        <a:rPr lang="en-US" sz="1000" dirty="0"/>
                        <a:t>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4132"/>
                  </a:ext>
                </a:extLst>
              </a:tr>
              <a:tr h="47447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CustomerID</a:t>
                      </a:r>
                      <a:r>
                        <a:rPr lang="en-US" sz="1000" dirty="0"/>
                        <a:t>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25182"/>
                  </a:ext>
                </a:extLst>
              </a:tr>
              <a:tr h="474470">
                <a:tc>
                  <a:txBody>
                    <a:bodyPr/>
                    <a:lstStyle/>
                    <a:p>
                      <a:r>
                        <a:rPr lang="en-US" sz="1000" dirty="0" err="1"/>
                        <a:t>BidAmount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360850"/>
                  </a:ext>
                </a:extLst>
              </a:tr>
              <a:tr h="474470">
                <a:tc>
                  <a:txBody>
                    <a:bodyPr/>
                    <a:lstStyle/>
                    <a:p>
                      <a:r>
                        <a:rPr lang="en-US" sz="1000" dirty="0" err="1"/>
                        <a:t>BidDate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167459"/>
                  </a:ext>
                </a:extLst>
              </a:tr>
              <a:tr h="474470">
                <a:tc>
                  <a:txBody>
                    <a:bodyPr/>
                    <a:lstStyle/>
                    <a:p>
                      <a:r>
                        <a:rPr lang="en-US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1071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A73DA62-978A-3610-538D-9907CEF66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133439"/>
              </p:ext>
            </p:extLst>
          </p:nvPr>
        </p:nvGraphicFramePr>
        <p:xfrm>
          <a:off x="3963728" y="420621"/>
          <a:ext cx="1019752" cy="3008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752">
                  <a:extLst>
                    <a:ext uri="{9D8B030D-6E8A-4147-A177-3AD203B41FA5}">
                      <a16:colId xmlns:a16="http://schemas.microsoft.com/office/drawing/2014/main" val="2779077959"/>
                    </a:ext>
                  </a:extLst>
                </a:gridCol>
              </a:tblGrid>
              <a:tr h="438994">
                <a:tc>
                  <a:txBody>
                    <a:bodyPr/>
                    <a:lstStyle/>
                    <a:p>
                      <a:r>
                        <a:rPr lang="en-US" sz="1000" dirty="0"/>
                        <a:t>Repair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3383"/>
                  </a:ext>
                </a:extLst>
              </a:tr>
              <a:tr h="513877">
                <a:tc>
                  <a:txBody>
                    <a:bodyPr/>
                    <a:lstStyle/>
                    <a:p>
                      <a:r>
                        <a:rPr lang="en-US" sz="1000" dirty="0" err="1"/>
                        <a:t>RepairID</a:t>
                      </a:r>
                      <a:r>
                        <a:rPr lang="en-US" sz="1000" dirty="0"/>
                        <a:t>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4132"/>
                  </a:ext>
                </a:extLst>
              </a:tr>
              <a:tr h="513877">
                <a:tc>
                  <a:txBody>
                    <a:bodyPr/>
                    <a:lstStyle/>
                    <a:p>
                      <a:r>
                        <a:rPr lang="en-US" sz="1000" dirty="0" err="1"/>
                        <a:t>BidID</a:t>
                      </a:r>
                      <a:r>
                        <a:rPr lang="en-US" sz="1000" dirty="0"/>
                        <a:t>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25182"/>
                  </a:ext>
                </a:extLst>
              </a:tr>
              <a:tr h="513877">
                <a:tc>
                  <a:txBody>
                    <a:bodyPr/>
                    <a:lstStyle/>
                    <a:p>
                      <a:r>
                        <a:rPr lang="en-US" sz="1000" dirty="0"/>
                        <a:t>Repair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360850"/>
                  </a:ext>
                </a:extLst>
              </a:tr>
              <a:tr h="513877">
                <a:tc>
                  <a:txBody>
                    <a:bodyPr/>
                    <a:lstStyle/>
                    <a:p>
                      <a:r>
                        <a:rPr lang="en-US" sz="1000" dirty="0" err="1"/>
                        <a:t>HoursWorked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167459"/>
                  </a:ext>
                </a:extLst>
              </a:tr>
              <a:tr h="513877">
                <a:tc>
                  <a:txBody>
                    <a:bodyPr/>
                    <a:lstStyle/>
                    <a:p>
                      <a:r>
                        <a:rPr lang="en-US" sz="1000" dirty="0" err="1"/>
                        <a:t>TotalCost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10719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5374DDD-E668-B082-F4DF-D7AF0E989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743227"/>
              </p:ext>
            </p:extLst>
          </p:nvPr>
        </p:nvGraphicFramePr>
        <p:xfrm>
          <a:off x="5586124" y="713922"/>
          <a:ext cx="1019752" cy="280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752">
                  <a:extLst>
                    <a:ext uri="{9D8B030D-6E8A-4147-A177-3AD203B41FA5}">
                      <a16:colId xmlns:a16="http://schemas.microsoft.com/office/drawing/2014/main" val="2779077959"/>
                    </a:ext>
                  </a:extLst>
                </a:gridCol>
              </a:tblGrid>
              <a:tr h="466980">
                <a:tc>
                  <a:txBody>
                    <a:bodyPr/>
                    <a:lstStyle/>
                    <a:p>
                      <a:r>
                        <a:rPr lang="en-US" sz="1000" dirty="0"/>
                        <a:t>Material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3383"/>
                  </a:ext>
                </a:extLst>
              </a:tr>
              <a:tr h="46698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MaterialID</a:t>
                      </a:r>
                      <a:r>
                        <a:rPr lang="en-US" sz="1000" dirty="0"/>
                        <a:t>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4132"/>
                  </a:ext>
                </a:extLst>
              </a:tr>
              <a:tr h="466980">
                <a:tc>
                  <a:txBody>
                    <a:bodyPr/>
                    <a:lstStyle/>
                    <a:p>
                      <a:r>
                        <a:rPr lang="en-US" sz="1000" dirty="0" err="1"/>
                        <a:t>RepairID</a:t>
                      </a:r>
                      <a:r>
                        <a:rPr lang="en-US" sz="1000" dirty="0"/>
                        <a:t>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25182"/>
                  </a:ext>
                </a:extLst>
              </a:tr>
              <a:tr h="466980">
                <a:tc>
                  <a:txBody>
                    <a:bodyPr/>
                    <a:lstStyle/>
                    <a:p>
                      <a:r>
                        <a:rPr lang="en-US" sz="1000" dirty="0" err="1"/>
                        <a:t>SupplierID</a:t>
                      </a:r>
                      <a:r>
                        <a:rPr lang="en-US" sz="1000" dirty="0"/>
                        <a:t>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360850"/>
                  </a:ext>
                </a:extLst>
              </a:tr>
              <a:tr h="46698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MaterialName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167459"/>
                  </a:ext>
                </a:extLst>
              </a:tr>
              <a:tr h="466980">
                <a:tc>
                  <a:txBody>
                    <a:bodyPr/>
                    <a:lstStyle/>
                    <a:p>
                      <a:r>
                        <a:rPr lang="en-US" sz="1000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10719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DA1C754-A418-AC1A-6E6F-A5B7ED6FB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78725"/>
              </p:ext>
            </p:extLst>
          </p:nvPr>
        </p:nvGraphicFramePr>
        <p:xfrm>
          <a:off x="6982799" y="713922"/>
          <a:ext cx="1120270" cy="1740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270">
                  <a:extLst>
                    <a:ext uri="{9D8B030D-6E8A-4147-A177-3AD203B41FA5}">
                      <a16:colId xmlns:a16="http://schemas.microsoft.com/office/drawing/2014/main" val="2779077959"/>
                    </a:ext>
                  </a:extLst>
                </a:gridCol>
              </a:tblGrid>
              <a:tr h="435058">
                <a:tc>
                  <a:txBody>
                    <a:bodyPr/>
                    <a:lstStyle/>
                    <a:p>
                      <a:r>
                        <a:rPr lang="en-US" sz="1000" dirty="0"/>
                        <a:t>Supplier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3383"/>
                  </a:ext>
                </a:extLst>
              </a:tr>
              <a:tr h="43505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SupplierID</a:t>
                      </a:r>
                      <a:r>
                        <a:rPr lang="en-US" sz="1000" dirty="0"/>
                        <a:t>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4132"/>
                  </a:ext>
                </a:extLst>
              </a:tr>
              <a:tr h="43505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SupplierName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25182"/>
                  </a:ext>
                </a:extLst>
              </a:tr>
              <a:tr h="435058">
                <a:tc>
                  <a:txBody>
                    <a:bodyPr/>
                    <a:lstStyle/>
                    <a:p>
                      <a:r>
                        <a:rPr lang="en-US" sz="1000" dirty="0" err="1"/>
                        <a:t>ContactInfo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36085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3094EDA-8C78-4D13-A66C-9345E14BD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432900"/>
              </p:ext>
            </p:extLst>
          </p:nvPr>
        </p:nvGraphicFramePr>
        <p:xfrm>
          <a:off x="2189852" y="4189111"/>
          <a:ext cx="1120270" cy="2223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270">
                  <a:extLst>
                    <a:ext uri="{9D8B030D-6E8A-4147-A177-3AD203B41FA5}">
                      <a16:colId xmlns:a16="http://schemas.microsoft.com/office/drawing/2014/main" val="2779077959"/>
                    </a:ext>
                  </a:extLst>
                </a:gridCol>
              </a:tblGrid>
              <a:tr h="273087">
                <a:tc>
                  <a:txBody>
                    <a:bodyPr/>
                    <a:lstStyle/>
                    <a:p>
                      <a:r>
                        <a:rPr lang="en-US" sz="1000" dirty="0"/>
                        <a:t>Payment for 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3383"/>
                  </a:ext>
                </a:extLst>
              </a:tr>
              <a:tr h="456907">
                <a:tc>
                  <a:txBody>
                    <a:bodyPr/>
                    <a:lstStyle/>
                    <a:p>
                      <a:r>
                        <a:rPr lang="en-US" sz="1000" dirty="0" err="1"/>
                        <a:t>PaymentID</a:t>
                      </a:r>
                      <a:r>
                        <a:rPr lang="en-US" sz="1000" dirty="0"/>
                        <a:t>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4132"/>
                  </a:ext>
                </a:extLst>
              </a:tr>
              <a:tr h="456907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CustomerID</a:t>
                      </a:r>
                      <a:r>
                        <a:rPr lang="en-US" sz="1000" dirty="0"/>
                        <a:t>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25182"/>
                  </a:ext>
                </a:extLst>
              </a:tr>
              <a:tr h="456907">
                <a:tc>
                  <a:txBody>
                    <a:bodyPr/>
                    <a:lstStyle/>
                    <a:p>
                      <a:r>
                        <a:rPr lang="en-US" sz="1000" dirty="0" err="1"/>
                        <a:t>PaymentDate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360850"/>
                  </a:ext>
                </a:extLst>
              </a:tr>
              <a:tr h="456907">
                <a:tc>
                  <a:txBody>
                    <a:bodyPr/>
                    <a:lstStyle/>
                    <a:p>
                      <a:r>
                        <a:rPr lang="en-US" sz="1000" dirty="0" err="1"/>
                        <a:t>AmountPaid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16745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BEFAA5C-3863-2517-0ACB-DF5BC2CEF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116427"/>
              </p:ext>
            </p:extLst>
          </p:nvPr>
        </p:nvGraphicFramePr>
        <p:xfrm>
          <a:off x="8791740" y="712682"/>
          <a:ext cx="1486551" cy="2871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51">
                  <a:extLst>
                    <a:ext uri="{9D8B030D-6E8A-4147-A177-3AD203B41FA5}">
                      <a16:colId xmlns:a16="http://schemas.microsoft.com/office/drawing/2014/main" val="2779077959"/>
                    </a:ext>
                  </a:extLst>
                </a:gridCol>
              </a:tblGrid>
              <a:tr h="585570">
                <a:tc>
                  <a:txBody>
                    <a:bodyPr/>
                    <a:lstStyle/>
                    <a:p>
                      <a:r>
                        <a:rPr lang="en-US" sz="1100" dirty="0"/>
                        <a:t>Payment to Suppliers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3383"/>
                  </a:ext>
                </a:extLst>
              </a:tr>
              <a:tr h="581732">
                <a:tc>
                  <a:txBody>
                    <a:bodyPr/>
                    <a:lstStyle/>
                    <a:p>
                      <a:r>
                        <a:rPr lang="en-US" sz="1100" dirty="0" err="1"/>
                        <a:t>SupplierPaymentID</a:t>
                      </a:r>
                      <a:r>
                        <a:rPr lang="en-US" sz="1100" dirty="0"/>
                        <a:t>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74132"/>
                  </a:ext>
                </a:extLst>
              </a:tr>
              <a:tr h="581732">
                <a:tc>
                  <a:txBody>
                    <a:bodyPr/>
                    <a:lstStyle/>
                    <a:p>
                      <a:r>
                        <a:rPr lang="en-US" sz="1100" dirty="0" err="1"/>
                        <a:t>SupplierID</a:t>
                      </a:r>
                      <a:r>
                        <a:rPr lang="en-US" sz="1100" dirty="0"/>
                        <a:t>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25182"/>
                  </a:ext>
                </a:extLst>
              </a:tr>
              <a:tr h="581732">
                <a:tc>
                  <a:txBody>
                    <a:bodyPr/>
                    <a:lstStyle/>
                    <a:p>
                      <a:r>
                        <a:rPr lang="en-US" sz="1100" dirty="0" err="1"/>
                        <a:t>PaymentDate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360850"/>
                  </a:ext>
                </a:extLst>
              </a:tr>
              <a:tr h="540998">
                <a:tc>
                  <a:txBody>
                    <a:bodyPr/>
                    <a:lstStyle/>
                    <a:p>
                      <a:r>
                        <a:rPr lang="en-US" sz="1100" dirty="0" err="1"/>
                        <a:t>AmountPaid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167459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FAAE6A-AE97-E32B-B89D-8ADCDD1C9AF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151276" y="1868431"/>
            <a:ext cx="979270" cy="141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496669B-4F19-1EB1-D28D-C07B48EC30EF}"/>
              </a:ext>
            </a:extLst>
          </p:cNvPr>
          <p:cNvCxnSpPr/>
          <p:nvPr/>
        </p:nvCxnSpPr>
        <p:spPr>
          <a:xfrm flipV="1">
            <a:off x="1913709" y="1645920"/>
            <a:ext cx="216837" cy="219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02202A-A518-961E-9A9F-2698926A16FE}"/>
              </a:ext>
            </a:extLst>
          </p:cNvPr>
          <p:cNvCxnSpPr/>
          <p:nvPr/>
        </p:nvCxnSpPr>
        <p:spPr>
          <a:xfrm>
            <a:off x="1913709" y="1868431"/>
            <a:ext cx="216837" cy="234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4795098-E032-A816-8800-314C33C0045B}"/>
              </a:ext>
            </a:extLst>
          </p:cNvPr>
          <p:cNvCxnSpPr/>
          <p:nvPr/>
        </p:nvCxnSpPr>
        <p:spPr>
          <a:xfrm>
            <a:off x="1463040" y="1764792"/>
            <a:ext cx="0" cy="210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AEA7CA-BE06-C5B3-C53B-39DEF1213C71}"/>
              </a:ext>
            </a:extLst>
          </p:cNvPr>
          <p:cNvCxnSpPr/>
          <p:nvPr/>
        </p:nvCxnSpPr>
        <p:spPr>
          <a:xfrm>
            <a:off x="1591056" y="1783080"/>
            <a:ext cx="0" cy="192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A54BEAA-8D76-2854-5753-F1D4C0C6D23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310122" y="1860884"/>
            <a:ext cx="662743" cy="7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2AE6DF-06DB-2A30-3CEC-D04590ECBC94}"/>
              </a:ext>
            </a:extLst>
          </p:cNvPr>
          <p:cNvCxnSpPr/>
          <p:nvPr/>
        </p:nvCxnSpPr>
        <p:spPr>
          <a:xfrm>
            <a:off x="3794760" y="1868431"/>
            <a:ext cx="178105" cy="234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EEBC99-9CB3-14E1-5F6E-91B549ACB826}"/>
              </a:ext>
            </a:extLst>
          </p:cNvPr>
          <p:cNvCxnSpPr/>
          <p:nvPr/>
        </p:nvCxnSpPr>
        <p:spPr>
          <a:xfrm flipV="1">
            <a:off x="3726377" y="1645920"/>
            <a:ext cx="246488" cy="2149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4C171C2-5B24-C611-AB90-12DC30B49AB0}"/>
              </a:ext>
            </a:extLst>
          </p:cNvPr>
          <p:cNvCxnSpPr/>
          <p:nvPr/>
        </p:nvCxnSpPr>
        <p:spPr>
          <a:xfrm>
            <a:off x="3468848" y="1773936"/>
            <a:ext cx="0" cy="20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1B24218-1509-F871-690A-A15C7FC9A146}"/>
              </a:ext>
            </a:extLst>
          </p:cNvPr>
          <p:cNvCxnSpPr/>
          <p:nvPr/>
        </p:nvCxnSpPr>
        <p:spPr>
          <a:xfrm>
            <a:off x="3641493" y="1753402"/>
            <a:ext cx="0" cy="2217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EE70386-3E08-7BCE-989F-AA1EF38D1A3C}"/>
              </a:ext>
            </a:extLst>
          </p:cNvPr>
          <p:cNvCxnSpPr>
            <a:cxnSpLocks/>
          </p:cNvCxnSpPr>
          <p:nvPr/>
        </p:nvCxnSpPr>
        <p:spPr>
          <a:xfrm flipV="1">
            <a:off x="4953431" y="2040237"/>
            <a:ext cx="662743" cy="7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749EB16-3F50-33A6-C06D-F7E3AC9D8C87}"/>
              </a:ext>
            </a:extLst>
          </p:cNvPr>
          <p:cNvCxnSpPr>
            <a:cxnSpLocks/>
          </p:cNvCxnSpPr>
          <p:nvPr/>
        </p:nvCxnSpPr>
        <p:spPr>
          <a:xfrm>
            <a:off x="6605876" y="1879092"/>
            <a:ext cx="392493" cy="9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FD758BE-B7F9-4D85-DA0F-0B7F72AB574B}"/>
              </a:ext>
            </a:extLst>
          </p:cNvPr>
          <p:cNvCxnSpPr>
            <a:cxnSpLocks/>
          </p:cNvCxnSpPr>
          <p:nvPr/>
        </p:nvCxnSpPr>
        <p:spPr>
          <a:xfrm>
            <a:off x="1171074" y="3515802"/>
            <a:ext cx="1108914" cy="7152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331303A-2C1C-9D21-DF2F-19F041DB4189}"/>
              </a:ext>
            </a:extLst>
          </p:cNvPr>
          <p:cNvCxnSpPr/>
          <p:nvPr/>
        </p:nvCxnSpPr>
        <p:spPr>
          <a:xfrm>
            <a:off x="5152448" y="1924810"/>
            <a:ext cx="0" cy="227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C5F0C59-F5FE-4A4E-772F-8CA4BB6EF7EB}"/>
              </a:ext>
            </a:extLst>
          </p:cNvPr>
          <p:cNvCxnSpPr>
            <a:cxnSpLocks/>
          </p:cNvCxnSpPr>
          <p:nvPr/>
        </p:nvCxnSpPr>
        <p:spPr>
          <a:xfrm>
            <a:off x="4983480" y="1924810"/>
            <a:ext cx="0" cy="227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8E4F280-53FB-82B6-3973-277841116898}"/>
              </a:ext>
            </a:extLst>
          </p:cNvPr>
          <p:cNvCxnSpPr/>
          <p:nvPr/>
        </p:nvCxnSpPr>
        <p:spPr>
          <a:xfrm>
            <a:off x="5431536" y="2047784"/>
            <a:ext cx="154588" cy="2107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9DC4DE-7E18-A73C-5B4C-016B0B5B0553}"/>
              </a:ext>
            </a:extLst>
          </p:cNvPr>
          <p:cNvCxnSpPr/>
          <p:nvPr/>
        </p:nvCxnSpPr>
        <p:spPr>
          <a:xfrm flipV="1">
            <a:off x="5419491" y="1783080"/>
            <a:ext cx="166633" cy="2115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4266EB2-842E-4D7D-F1D0-801940E337EE}"/>
              </a:ext>
            </a:extLst>
          </p:cNvPr>
          <p:cNvCxnSpPr>
            <a:cxnSpLocks/>
          </p:cNvCxnSpPr>
          <p:nvPr/>
        </p:nvCxnSpPr>
        <p:spPr>
          <a:xfrm>
            <a:off x="6711021" y="1783080"/>
            <a:ext cx="0" cy="2115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08CD2BF-3BAA-F404-B048-34DA64D9C3D3}"/>
              </a:ext>
            </a:extLst>
          </p:cNvPr>
          <p:cNvCxnSpPr>
            <a:cxnSpLocks/>
          </p:cNvCxnSpPr>
          <p:nvPr/>
        </p:nvCxnSpPr>
        <p:spPr>
          <a:xfrm>
            <a:off x="6605876" y="1764792"/>
            <a:ext cx="0" cy="2032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B9BA057-835A-9448-4866-E15EDFACB445}"/>
              </a:ext>
            </a:extLst>
          </p:cNvPr>
          <p:cNvCxnSpPr/>
          <p:nvPr/>
        </p:nvCxnSpPr>
        <p:spPr>
          <a:xfrm>
            <a:off x="6802122" y="1888275"/>
            <a:ext cx="196247" cy="1595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891BD0C-0DC5-CA2C-DEE3-E5588A5FEA10}"/>
              </a:ext>
            </a:extLst>
          </p:cNvPr>
          <p:cNvCxnSpPr/>
          <p:nvPr/>
        </p:nvCxnSpPr>
        <p:spPr>
          <a:xfrm flipV="1">
            <a:off x="6802122" y="1742188"/>
            <a:ext cx="180676" cy="136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8BA9BFE-4A99-1E2F-1288-10575D76B7A1}"/>
              </a:ext>
            </a:extLst>
          </p:cNvPr>
          <p:cNvCxnSpPr/>
          <p:nvPr/>
        </p:nvCxnSpPr>
        <p:spPr>
          <a:xfrm flipV="1">
            <a:off x="1307268" y="3584447"/>
            <a:ext cx="283788" cy="2149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D916F6B-854D-2F63-2605-ADC5C69B74D8}"/>
              </a:ext>
            </a:extLst>
          </p:cNvPr>
          <p:cNvCxnSpPr/>
          <p:nvPr/>
        </p:nvCxnSpPr>
        <p:spPr>
          <a:xfrm flipV="1">
            <a:off x="1171074" y="3429000"/>
            <a:ext cx="291966" cy="2515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A2EBC9B-0111-521B-DBB2-1B0F7C1CCFEE}"/>
              </a:ext>
            </a:extLst>
          </p:cNvPr>
          <p:cNvCxnSpPr/>
          <p:nvPr/>
        </p:nvCxnSpPr>
        <p:spPr>
          <a:xfrm>
            <a:off x="2022127" y="4114800"/>
            <a:ext cx="108419" cy="4297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B48BD26-F016-7891-187A-D4082E995D04}"/>
              </a:ext>
            </a:extLst>
          </p:cNvPr>
          <p:cNvCxnSpPr>
            <a:endCxn id="14" idx="0"/>
          </p:cNvCxnSpPr>
          <p:nvPr/>
        </p:nvCxnSpPr>
        <p:spPr>
          <a:xfrm>
            <a:off x="2022127" y="4069636"/>
            <a:ext cx="727860" cy="119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46C6A93-DA80-5CFE-210D-80134B86E7B1}"/>
              </a:ext>
            </a:extLst>
          </p:cNvPr>
          <p:cNvCxnSpPr/>
          <p:nvPr/>
        </p:nvCxnSpPr>
        <p:spPr>
          <a:xfrm flipV="1">
            <a:off x="8103069" y="1645920"/>
            <a:ext cx="688672" cy="962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835AB82-7205-7A55-2AFB-5E0A7329B6AC}"/>
              </a:ext>
            </a:extLst>
          </p:cNvPr>
          <p:cNvCxnSpPr/>
          <p:nvPr/>
        </p:nvCxnSpPr>
        <p:spPr>
          <a:xfrm>
            <a:off x="8211312" y="1645920"/>
            <a:ext cx="0" cy="2149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1CAF7CD-4DD9-B985-0BA3-3CC207CC231D}"/>
              </a:ext>
            </a:extLst>
          </p:cNvPr>
          <p:cNvCxnSpPr/>
          <p:nvPr/>
        </p:nvCxnSpPr>
        <p:spPr>
          <a:xfrm>
            <a:off x="8357616" y="1584038"/>
            <a:ext cx="0" cy="2266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CB0071D-ABD8-FBA7-9171-6D02DB6C608B}"/>
              </a:ext>
            </a:extLst>
          </p:cNvPr>
          <p:cNvCxnSpPr>
            <a:cxnSpLocks/>
          </p:cNvCxnSpPr>
          <p:nvPr/>
        </p:nvCxnSpPr>
        <p:spPr>
          <a:xfrm>
            <a:off x="8558784" y="1694054"/>
            <a:ext cx="232956" cy="155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574CFCD-550F-44DF-F327-C84EBEF82659}"/>
              </a:ext>
            </a:extLst>
          </p:cNvPr>
          <p:cNvCxnSpPr/>
          <p:nvPr/>
        </p:nvCxnSpPr>
        <p:spPr>
          <a:xfrm flipV="1">
            <a:off x="8612164" y="1442726"/>
            <a:ext cx="179577" cy="203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51B51861-CA31-ACE0-E57A-1B44E660EBCF}"/>
              </a:ext>
            </a:extLst>
          </p:cNvPr>
          <p:cNvSpPr txBox="1"/>
          <p:nvPr/>
        </p:nvSpPr>
        <p:spPr>
          <a:xfrm>
            <a:off x="173736" y="126124"/>
            <a:ext cx="4461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ERD for Bob’s Home Repairs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0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C97C0E1-BB2C-348A-C562-7A500627E6D3}"/>
              </a:ext>
            </a:extLst>
          </p:cNvPr>
          <p:cNvSpPr txBox="1"/>
          <p:nvPr/>
        </p:nvSpPr>
        <p:spPr>
          <a:xfrm>
            <a:off x="192505" y="240631"/>
            <a:ext cx="8951495" cy="6416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Entities: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Customer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Attributes: Customer ID (PK), FirstName,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LastName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Phone, Address</a:t>
            </a:r>
          </a:p>
          <a:p>
            <a:pPr marL="9144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Bid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Attributes: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BidID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BidAmount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BidDate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Status</a:t>
            </a: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Relationships: 1:M, a bid is made by one customer and a customer can have multiple bids</a:t>
            </a: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Repair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Attributes: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RepairID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BidID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RepairDescription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HoursWorked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TotalCost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Relationships: 1:M, a repair belongs to one bid and a bid can have multiple repairs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Material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Attributes: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MaterialID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RepairID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SupplierID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MaterialName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Cost</a:t>
            </a: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Relationships: 1:M, a material is used for one repair, but one repair can use multiple materials, a material is supplied by one supplier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Supplier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Attributes: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SupplierID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SupplierName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ContactInfo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Relationships: 1:M, a supplier can provide multiple materials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Payment for Customers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Attributes: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PaymentID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(PK), Customer ID (FK),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PaymentDate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Amount Paid</a:t>
            </a: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Relationships: 1:M, a customer can make multiple payments but each payment belongs to only one customer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Payment to Suppliers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Attributes: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SupplierPaymentID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SupplierID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(FK),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PaymentDate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Amount Paid</a:t>
            </a: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Relationships: 1:M, a supplier can receive multiple payments but each payment belongs to on only one supplier</a:t>
            </a:r>
          </a:p>
        </p:txBody>
      </p:sp>
    </p:spTree>
    <p:extLst>
      <p:ext uri="{BB962C8B-B14F-4D97-AF65-F5344CB8AC3E}">
        <p14:creationId xmlns:p14="http://schemas.microsoft.com/office/powerpoint/2010/main" val="293460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4243</TotalTime>
  <Words>337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Rinaldo</dc:creator>
  <cp:lastModifiedBy>Sara Rinaldo</cp:lastModifiedBy>
  <cp:revision>2</cp:revision>
  <dcterms:created xsi:type="dcterms:W3CDTF">2024-09-16T01:47:47Z</dcterms:created>
  <dcterms:modified xsi:type="dcterms:W3CDTF">2024-09-19T00:31:03Z</dcterms:modified>
</cp:coreProperties>
</file>